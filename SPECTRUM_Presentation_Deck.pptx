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Speaker Notes:</a:t>
            </a:r>
          </a:p>
          <a:p>
            <a:r>
              <a:t>Welcome everyone. Today we are presenting SPECTRUM: an Autonomous AI Network Security and Attack Forecasting Platform. Traditional cybersecurity tools suffer from alert fatigue and act only AFTER damage is already done. SPECTRUM changes the paradigm by introducing multi-horizon attack forecasting, lossless flow analysis, and explainable AI to stop intrusions before lateral movement and exfiltration occur.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Speaker Notes:</a:t>
            </a:r>
          </a:p>
          <a:p>
            <a:r>
              <a:t>Here we address the core problem. Today's Security Operations Centers operate completely in the rearview mirror. By the time an alert fires, data is already compromised. SPECTRUM's proposed solution shifts cyber defense from reaction to anticipation. Our working prototype integrates 4 key pillars: temporal velocity forecasting, calibrated classification, SHAP explainability, and automated containment.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Speaker Notes:</a:t>
            </a:r>
          </a:p>
          <a:p>
            <a:r>
              <a:t>Here is the technology stack powering SPECTRUM. We selected Python 3.11 and FastAPI for the backend to achieve asynchronous microsecond response times. Our ML engine utilizes Scikit-Learn Random Forests combined with SHAP for real-time explainability. The frontend is built on React 18 and Vite with full-duplex WebSockets streaming 60fps canvas animations. Hardware-wise, SPECTRUM connects passively to enterprise network switches via 10 Gbps optical TAPs, introducing zero inline latency or packet degradation.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Speaker Notes:</a:t>
            </a:r>
          </a:p>
          <a:p>
            <a:r>
              <a:t>This slide illustrates our 5-stage implementation methodology and architecture. Data flows seamlessly from passive optical TAP capture, through high-speed statistical feature extraction, into our dual-engine AI pipeline. The system calculates SHAP explainability values in real-time, maps to MITRE ATT&amp;CK, and pushes live telemetry over WebSockets to the Command Center. Our working prototype is already fully functional and operational.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Speaker Notes:</a:t>
            </a:r>
          </a:p>
          <a:p>
            <a:r>
              <a:t>When evaluating the feasibility of SPECTRUM, we analyzed technical, operational, and economic dimensions. Technically, our inference requires less than 5ms total processing time and does not need expensive GPUs. Operationally, passive TAP integration means zero agents need to be installed on client devices. Economically, it eliminates per-endpoint licensing and drastically curtails breach damages.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Speaker Notes:</a:t>
            </a:r>
          </a:p>
          <a:p>
            <a:r>
              <a:t>Every innovative cyber solution must address practical engineering challenges. We identified 4 major risks: false positives, encrypted traffic, DDoS burst saturation, and zero-day evasion. Our mitigation strategies include adaptive baselining, payload-agnostic statistical flow modeling, ring-buffered sub-sampling, and hybrid dual-engine anomaly scoring.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Speaker Notes:</a:t>
            </a:r>
          </a:p>
          <a:p>
            <a:r>
              <a:t>The impact of SPECTRUM spans economic, social, and environmental dimensions. Our primary audience encompasses Enterprise SOCs, Critical Infrastructure, and MSSPs. Economically, early containment saves millions in avoided breach damages. Socially, we protect hospitals and essential public services from operational halts. Environmentally, by curtailing cryptojacking and distributed attacks, we prevent massive compute power waste.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Speaker Notes:</a:t>
            </a:r>
          </a:p>
          <a:p>
            <a:r>
              <a:t>To conclude, SPECTRUM is firmly grounded in peer-reviewed academic literature and global cybersecurity standards, including CICIDS benchmark datasets, the MITRE ATT&amp;CK framework, and Lundberg's SHAP research. Our complete open-source project, interactive working prototype, and OpenAPI test documentation are publicly accessible via our GitHub repository at rajsoni2962/Spectrum. Thank you, and we are now open for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8F5"/>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BE1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10728655" cy="5394960"/>
          </a:xfrm>
          <a:prstGeom prst="roundRect">
            <a:avLst/>
          </a:prstGeom>
          <a:solidFill>
            <a:srgbClr val="FFFFFF"/>
          </a:solidFill>
          <a:ln w="12700">
            <a:solidFill>
              <a:srgbClr val="F3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pectrum-official-wordmark.png"/>
          <p:cNvPicPr>
            <a:picLocks noChangeAspect="1"/>
          </p:cNvPicPr>
          <p:nvPr/>
        </p:nvPicPr>
        <p:blipFill>
          <a:blip r:embed="rId2"/>
          <a:stretch>
            <a:fillRect/>
          </a:stretch>
        </p:blipFill>
        <p:spPr>
          <a:xfrm>
            <a:off x="1097280" y="1097280"/>
            <a:ext cx="2926080" cy="514281"/>
          </a:xfrm>
          <a:prstGeom prst="rect">
            <a:avLst/>
          </a:prstGeom>
        </p:spPr>
      </p:pic>
      <p:sp>
        <p:nvSpPr>
          <p:cNvPr id="5" name="Rounded Rectangle 4"/>
          <p:cNvSpPr/>
          <p:nvPr/>
        </p:nvSpPr>
        <p:spPr>
          <a:xfrm>
            <a:off x="1097280" y="2011680"/>
            <a:ext cx="3291840" cy="347472"/>
          </a:xfrm>
          <a:prstGeom prst="roundRect">
            <a:avLst/>
          </a:prstGeom>
          <a:solidFill>
            <a:srgbClr val="FDF2F8"/>
          </a:solidFill>
          <a:ln w="12700">
            <a:solidFill>
              <a:srgbClr val="F3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BE185D"/>
                </a:solidFill>
                <a:latin typeface="Arial"/>
              </a:defRPr>
            </a:pPr>
            <a:r>
              <a:t>AUTONOMOUS CYBER DEFENSE &amp; PREDICTION</a:t>
            </a:r>
          </a:p>
        </p:txBody>
      </p:sp>
      <p:sp>
        <p:nvSpPr>
          <p:cNvPr id="6" name="TextBox 5"/>
          <p:cNvSpPr txBox="1"/>
          <p:nvPr/>
        </p:nvSpPr>
        <p:spPr>
          <a:xfrm>
            <a:off x="1097280" y="2468880"/>
            <a:ext cx="6583680" cy="1645920"/>
          </a:xfrm>
          <a:prstGeom prst="rect">
            <a:avLst/>
          </a:prstGeom>
          <a:noFill/>
        </p:spPr>
        <p:txBody>
          <a:bodyPr wrap="square">
            <a:spAutoFit/>
          </a:bodyPr>
          <a:lstStyle/>
          <a:p>
            <a:pPr>
              <a:defRPr sz="2600" b="1">
                <a:solidFill>
                  <a:srgbClr val="0F172A"/>
                </a:solidFill>
                <a:latin typeface="Arial"/>
              </a:defRPr>
            </a:pPr>
            <a:r>
              <a:t>SPECTRUM: Autonomous AI Network Security &amp; Early Attack Forecasting Platform</a:t>
            </a:r>
          </a:p>
          <a:p>
            <a:pPr>
              <a:defRPr sz="1300">
                <a:solidFill>
                  <a:srgbClr val="64748B"/>
                </a:solidFill>
                <a:latin typeface="Arial"/>
              </a:defRPr>
            </a:pPr>
            <a:r>
              <a:t>Transforming enterprise SOC operations from reactive incident containment to proactive, explainable forewarning with lossless 10 Gbps network flow telemetry.</a:t>
            </a:r>
          </a:p>
        </p:txBody>
      </p:sp>
      <p:sp>
        <p:nvSpPr>
          <p:cNvPr id="7" name="Rounded Rectangle 6"/>
          <p:cNvSpPr/>
          <p:nvPr/>
        </p:nvSpPr>
        <p:spPr>
          <a:xfrm>
            <a:off x="1097280" y="4297680"/>
            <a:ext cx="3200400" cy="1463040"/>
          </a:xfrm>
          <a:prstGeom prst="roundRect">
            <a:avLst/>
          </a:prstGeom>
          <a:solidFill>
            <a:srgbClr val="ECFDF5"/>
          </a:solidFill>
          <a:ln w="12700">
            <a:solidFill>
              <a:srgbClr val="F3E8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59669"/>
                </a:solidFill>
                <a:latin typeface="Arial"/>
              </a:defRPr>
            </a:pPr>
            <a:r>
              <a:t>96.4% F1-Score Accuracy</a:t>
            </a:r>
          </a:p>
          <a:p>
            <a:pPr>
              <a:defRPr sz="1000">
                <a:solidFill>
                  <a:srgbClr val="64748B"/>
                </a:solidFill>
                <a:latin typeface="Arial"/>
              </a:defRPr>
            </a:pPr>
            <a:r>
              <a:t>Calibrated Multi-Class Random Forest classifier benchmarked on CICIDS/NSL-KDD.</a:t>
            </a:r>
          </a:p>
        </p:txBody>
      </p:sp>
      <p:sp>
        <p:nvSpPr>
          <p:cNvPr id="8" name="Rounded Rectangle 7"/>
          <p:cNvSpPr/>
          <p:nvPr/>
        </p:nvSpPr>
        <p:spPr>
          <a:xfrm>
            <a:off x="4526280" y="4297680"/>
            <a:ext cx="3200400" cy="1463040"/>
          </a:xfrm>
          <a:prstGeom prst="roundRect">
            <a:avLst/>
          </a:prstGeom>
          <a:solidFill>
            <a:srgbClr val="FDF2F8"/>
          </a:solidFill>
          <a:ln w="12700">
            <a:solidFill>
              <a:srgbClr val="F3E8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BE185D"/>
                </a:solidFill>
                <a:latin typeface="Arial"/>
              </a:defRPr>
            </a:pPr>
            <a:r>
              <a:t>Pre-Attack Forecasting Horizon</a:t>
            </a:r>
          </a:p>
          <a:p>
            <a:pPr>
              <a:defRPr sz="1000">
                <a:solidFill>
                  <a:srgbClr val="64748B"/>
                </a:solidFill>
                <a:latin typeface="Arial"/>
              </a:defRPr>
            </a:pPr>
            <a:r>
              <a:t>Forecasts trajectory velocity &amp; impending attack escalation 5 to 60 mins ahead.</a:t>
            </a:r>
          </a:p>
        </p:txBody>
      </p:sp>
      <p:sp>
        <p:nvSpPr>
          <p:cNvPr id="9" name="Rounded Rectangle 8"/>
          <p:cNvSpPr/>
          <p:nvPr/>
        </p:nvSpPr>
        <p:spPr>
          <a:xfrm>
            <a:off x="7955279" y="4297680"/>
            <a:ext cx="3200400" cy="1463040"/>
          </a:xfrm>
          <a:prstGeom prst="roundRect">
            <a:avLst/>
          </a:prstGeom>
          <a:solidFill>
            <a:srgbClr val="FFFFFF"/>
          </a:solidFill>
          <a:ln w="12700">
            <a:solidFill>
              <a:srgbClr val="F3E8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563EB"/>
                </a:solidFill>
                <a:latin typeface="Arial"/>
              </a:defRPr>
            </a:pPr>
            <a:r>
              <a:t>Sub-45ms Real-Time Inference</a:t>
            </a:r>
          </a:p>
          <a:p>
            <a:pPr>
              <a:defRPr sz="1000">
                <a:solidFill>
                  <a:srgbClr val="64748B"/>
                </a:solidFill>
                <a:latin typeface="Arial"/>
              </a:defRPr>
            </a:pPr>
            <a:r>
              <a:t>Full-duplex WebSocket stream dispatching threat signals with zero dropped flows.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8F5"/>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1000" b="1">
                <a:solidFill>
                  <a:srgbClr val="BE185D"/>
                </a:solidFill>
                <a:latin typeface="Arial"/>
              </a:defRPr>
            </a:pPr>
            <a:r>
              <a:t>SPECTRUM  |  PROPOSED SOLUTION</a:t>
            </a:r>
          </a:p>
        </p:txBody>
      </p:sp>
      <p:sp>
        <p:nvSpPr>
          <p:cNvPr id="3" name="TextBox 2"/>
          <p:cNvSpPr txBox="1"/>
          <p:nvPr/>
        </p:nvSpPr>
        <p:spPr>
          <a:xfrm>
            <a:off x="731520" y="658368"/>
            <a:ext cx="9144000" cy="640080"/>
          </a:xfrm>
          <a:prstGeom prst="rect">
            <a:avLst/>
          </a:prstGeom>
          <a:noFill/>
        </p:spPr>
        <p:txBody>
          <a:bodyPr wrap="square" lIns="0" tIns="0" rIns="0" bIns="0">
            <a:spAutoFit/>
          </a:bodyPr>
          <a:lstStyle/>
          <a:p>
            <a:pPr>
              <a:defRPr sz="2200" b="1">
                <a:solidFill>
                  <a:srgbClr val="0F172A"/>
                </a:solidFill>
                <a:latin typeface="Arial"/>
              </a:defRPr>
            </a:pPr>
            <a:r>
              <a:t>Describe Your Idea / Solution / Prototype</a:t>
            </a:r>
          </a:p>
        </p:txBody>
      </p:sp>
      <p:sp>
        <p:nvSpPr>
          <p:cNvPr id="4" name="TextBox 3"/>
          <p:cNvSpPr txBox="1"/>
          <p:nvPr/>
        </p:nvSpPr>
        <p:spPr>
          <a:xfrm>
            <a:off x="10515600" y="365760"/>
            <a:ext cx="914400" cy="320040"/>
          </a:xfrm>
          <a:prstGeom prst="rect">
            <a:avLst/>
          </a:prstGeom>
          <a:noFill/>
        </p:spPr>
        <p:txBody>
          <a:bodyPr wrap="none">
            <a:spAutoFit/>
          </a:bodyPr>
          <a:lstStyle/>
          <a:p>
            <a:pPr algn="r">
              <a:defRPr sz="1100" b="1">
                <a:solidFill>
                  <a:srgbClr val="64748B"/>
                </a:solidFill>
                <a:latin typeface="Arial"/>
              </a:defRPr>
            </a:pPr>
            <a:r>
              <a:t>02 / 08</a:t>
            </a:r>
          </a:p>
        </p:txBody>
      </p:sp>
      <p:sp>
        <p:nvSpPr>
          <p:cNvPr id="5" name="Rounded Rectangle 4"/>
          <p:cNvSpPr/>
          <p:nvPr/>
        </p:nvSpPr>
        <p:spPr>
          <a:xfrm>
            <a:off x="731520" y="1463040"/>
            <a:ext cx="5120640" cy="4754880"/>
          </a:xfrm>
          <a:prstGeom prst="roundRect">
            <a:avLst/>
          </a:prstGeom>
          <a:solidFill>
            <a:srgbClr val="FFFFFF"/>
          </a:solidFill>
          <a:ln w="12700">
            <a:solidFill>
              <a:srgbClr val="F3E8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BE185D"/>
                </a:solidFill>
                <a:latin typeface="Arial"/>
              </a:defRPr>
            </a:pPr>
            <a:r>
              <a:t>THE PROBLEM &amp; CORE INNOVATION</a:t>
            </a:r>
          </a:p>
          <a:p>
            <a:pPr>
              <a:defRPr sz="1100" b="1">
                <a:solidFill>
                  <a:srgbClr val="0F172A"/>
                </a:solidFill>
                <a:latin typeface="Arial"/>
              </a:defRPr>
            </a:pPr>
            <a:r>
              <a:t>• Dwell Time Crisis: </a:t>
            </a:r>
          </a:p>
          <a:p>
            <a:pPr>
              <a:defRPr sz="1000">
                <a:solidFill>
                  <a:srgbClr val="64748B"/>
                </a:solidFill>
                <a:latin typeface="Arial"/>
              </a:defRPr>
            </a:pPr>
            <a:r>
              <a:t>  Average enterprise breach dwell time exceeds 200 days. SOCs are inundated with 10,000+ alerts daily without predictive context.</a:t>
            </a:r>
          </a:p>
          <a:p>
            <a:pPr>
              <a:defRPr sz="1100" b="1">
                <a:solidFill>
                  <a:srgbClr val="0F172A"/>
                </a:solidFill>
                <a:latin typeface="Arial"/>
              </a:defRPr>
            </a:pPr>
            <a:r>
              <a:t>• Reactive vs. Predictive: </a:t>
            </a:r>
          </a:p>
          <a:p>
            <a:pPr>
              <a:defRPr sz="1000">
                <a:solidFill>
                  <a:srgbClr val="64748B"/>
                </a:solidFill>
                <a:latin typeface="Arial"/>
              </a:defRPr>
            </a:pPr>
            <a:r>
              <a:t>  Existing SIEM and EDR products trigger alerts only after malicious payloads detonate. They lack temporal trajectory forecasting.</a:t>
            </a:r>
          </a:p>
          <a:p>
            <a:pPr>
              <a:defRPr sz="1100" b="1">
                <a:solidFill>
                  <a:srgbClr val="0F172A"/>
                </a:solidFill>
                <a:latin typeface="Arial"/>
              </a:defRPr>
            </a:pPr>
            <a:r>
              <a:t>• The SPECTRUM Idea: </a:t>
            </a:r>
          </a:p>
          <a:p>
            <a:pPr>
              <a:defRPr sz="1000">
                <a:solidFill>
                  <a:srgbClr val="64748B"/>
                </a:solidFill>
                <a:latin typeface="Arial"/>
              </a:defRPr>
            </a:pPr>
            <a:r>
              <a:t>  A passive, zero-overhead network appliance combining statistical feature extraction, multi-stage machine learning, and explainable AI.</a:t>
            </a:r>
          </a:p>
          <a:p>
            <a:pPr>
              <a:defRPr sz="1100" b="1">
                <a:solidFill>
                  <a:srgbClr val="0F172A"/>
                </a:solidFill>
                <a:latin typeface="Arial"/>
              </a:defRPr>
            </a:pPr>
            <a:r>
              <a:t>• Early Forewarning Horizon: </a:t>
            </a:r>
          </a:p>
          <a:p>
            <a:pPr>
              <a:defRPr sz="1000">
                <a:solidFill>
                  <a:srgbClr val="64748B"/>
                </a:solidFill>
                <a:latin typeface="Arial"/>
              </a:defRPr>
            </a:pPr>
            <a:r>
              <a:t>  Predicts the probability, attack class (DDoS, Brute Force, Scan, Infiltration), and time-to-escalation up to 60 minutes in advance.</a:t>
            </a:r>
          </a:p>
        </p:txBody>
      </p:sp>
      <p:sp>
        <p:nvSpPr>
          <p:cNvPr id="6" name="Rounded Rectangle 5"/>
          <p:cNvSpPr/>
          <p:nvPr/>
        </p:nvSpPr>
        <p:spPr>
          <a:xfrm>
            <a:off x="6126480" y="1463040"/>
            <a:ext cx="5303520" cy="1115568"/>
          </a:xfrm>
          <a:prstGeom prst="roundRect">
            <a:avLst/>
          </a:prstGeom>
          <a:solidFill>
            <a:srgbClr val="FFFFFF"/>
          </a:solidFill>
          <a:ln w="12700">
            <a:solidFill>
              <a:srgbClr val="F3E8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BE185D"/>
                </a:solidFill>
                <a:latin typeface="Arial"/>
              </a:defRPr>
            </a:pPr>
            <a:r>
              <a:t>1. Temporal Attack Velocity Forecasting</a:t>
            </a:r>
          </a:p>
          <a:p>
            <a:pPr>
              <a:defRPr sz="1000">
                <a:solidFill>
                  <a:srgbClr val="64748B"/>
                </a:solidFill>
                <a:latin typeface="Arial"/>
              </a:defRPr>
            </a:pPr>
            <a:r>
              <a:t>Computes risk derivatives and sliding-window acceleration to forecast attack surges before threshold breaches.</a:t>
            </a:r>
          </a:p>
        </p:txBody>
      </p:sp>
      <p:sp>
        <p:nvSpPr>
          <p:cNvPr id="7" name="Rounded Rectangle 6"/>
          <p:cNvSpPr/>
          <p:nvPr/>
        </p:nvSpPr>
        <p:spPr>
          <a:xfrm>
            <a:off x="6126480" y="2679192"/>
            <a:ext cx="5303520" cy="1115568"/>
          </a:xfrm>
          <a:prstGeom prst="roundRect">
            <a:avLst/>
          </a:prstGeom>
          <a:solidFill>
            <a:srgbClr val="FFFFFF"/>
          </a:solidFill>
          <a:ln w="12700">
            <a:solidFill>
              <a:srgbClr val="F3E8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F172A"/>
                </a:solidFill>
                <a:latin typeface="Arial"/>
              </a:defRPr>
            </a:pPr>
            <a:r>
              <a:t>2. Calibrated Multi-Class Classifier</a:t>
            </a:r>
          </a:p>
          <a:p>
            <a:pPr>
              <a:defRPr sz="1000">
                <a:solidFill>
                  <a:srgbClr val="64748B"/>
                </a:solidFill>
                <a:latin typeface="Arial"/>
              </a:defRPr>
            </a:pPr>
            <a:r>
              <a:t>Recognizes 10 discrete attack categories (DDoS, Botnet, Port Scan, Brute Force, Credential Attacks) with 96.4% precision.</a:t>
            </a:r>
          </a:p>
        </p:txBody>
      </p:sp>
      <p:sp>
        <p:nvSpPr>
          <p:cNvPr id="8" name="Rounded Rectangle 7"/>
          <p:cNvSpPr/>
          <p:nvPr/>
        </p:nvSpPr>
        <p:spPr>
          <a:xfrm>
            <a:off x="6126480" y="3895344"/>
            <a:ext cx="5303520" cy="1115568"/>
          </a:xfrm>
          <a:prstGeom prst="roundRect">
            <a:avLst/>
          </a:prstGeom>
          <a:solidFill>
            <a:srgbClr val="FFFFFF"/>
          </a:solidFill>
          <a:ln w="12700">
            <a:solidFill>
              <a:srgbClr val="F3E8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2563EB"/>
                </a:solidFill>
                <a:latin typeface="Arial"/>
              </a:defRPr>
            </a:pPr>
            <a:r>
              <a:t>3. Explainable AI (SHAP Waterfall)</a:t>
            </a:r>
          </a:p>
          <a:p>
            <a:pPr>
              <a:defRPr sz="1000">
                <a:solidFill>
                  <a:srgbClr val="64748B"/>
                </a:solidFill>
                <a:latin typeface="Arial"/>
              </a:defRPr>
            </a:pPr>
            <a:r>
              <a:t>Translates complex mathematical weights into human-readable factor rankings (e.g. 'SYN ratio 0.94 elevated risk by +42%').</a:t>
            </a:r>
          </a:p>
        </p:txBody>
      </p:sp>
      <p:sp>
        <p:nvSpPr>
          <p:cNvPr id="9" name="Rounded Rectangle 8"/>
          <p:cNvSpPr/>
          <p:nvPr/>
        </p:nvSpPr>
        <p:spPr>
          <a:xfrm>
            <a:off x="6126480" y="5111496"/>
            <a:ext cx="5303520" cy="1115568"/>
          </a:xfrm>
          <a:prstGeom prst="roundRect">
            <a:avLst/>
          </a:prstGeom>
          <a:solidFill>
            <a:srgbClr val="FFFFFF"/>
          </a:solidFill>
          <a:ln w="12700">
            <a:solidFill>
              <a:srgbClr val="F3E8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59669"/>
                </a:solidFill>
                <a:latin typeface="Arial"/>
              </a:defRPr>
            </a:pPr>
            <a:r>
              <a:t>4. Autonomous Containment &amp; Drills</a:t>
            </a:r>
          </a:p>
          <a:p>
            <a:pPr>
              <a:defRPr sz="1000">
                <a:solidFill>
                  <a:srgbClr val="64748B"/>
                </a:solidFill>
                <a:latin typeface="Arial"/>
              </a:defRPr>
            </a:pPr>
            <a:r>
              <a:t>Interactive simulation lab and one-click host isolation workflows mapped to the MITRE ATT&amp;CK Enterprise matrix.</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8F5"/>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1000" b="1">
                <a:solidFill>
                  <a:srgbClr val="BE185D"/>
                </a:solidFill>
                <a:latin typeface="Arial"/>
              </a:defRPr>
            </a:pPr>
            <a:r>
              <a:t>SPECTRUM  |  TECHNOLOGY STACK</a:t>
            </a:r>
          </a:p>
        </p:txBody>
      </p:sp>
      <p:sp>
        <p:nvSpPr>
          <p:cNvPr id="3" name="TextBox 2"/>
          <p:cNvSpPr txBox="1"/>
          <p:nvPr/>
        </p:nvSpPr>
        <p:spPr>
          <a:xfrm>
            <a:off x="731520" y="658368"/>
            <a:ext cx="9144000" cy="640080"/>
          </a:xfrm>
          <a:prstGeom prst="rect">
            <a:avLst/>
          </a:prstGeom>
          <a:noFill/>
        </p:spPr>
        <p:txBody>
          <a:bodyPr wrap="square" lIns="0" tIns="0" rIns="0" bIns="0">
            <a:spAutoFit/>
          </a:bodyPr>
          <a:lstStyle/>
          <a:p>
            <a:pPr>
              <a:defRPr sz="2200" b="1">
                <a:solidFill>
                  <a:srgbClr val="0F172A"/>
                </a:solidFill>
                <a:latin typeface="Arial"/>
              </a:defRPr>
            </a:pPr>
            <a:r>
              <a:t>Technologies to be Used (Languages, Frameworks &amp; Hardware)</a:t>
            </a:r>
          </a:p>
        </p:txBody>
      </p:sp>
      <p:sp>
        <p:nvSpPr>
          <p:cNvPr id="4" name="TextBox 3"/>
          <p:cNvSpPr txBox="1"/>
          <p:nvPr/>
        </p:nvSpPr>
        <p:spPr>
          <a:xfrm>
            <a:off x="10515600" y="365760"/>
            <a:ext cx="914400" cy="320040"/>
          </a:xfrm>
          <a:prstGeom prst="rect">
            <a:avLst/>
          </a:prstGeom>
          <a:noFill/>
        </p:spPr>
        <p:txBody>
          <a:bodyPr wrap="none">
            <a:spAutoFit/>
          </a:bodyPr>
          <a:lstStyle/>
          <a:p>
            <a:pPr algn="r">
              <a:defRPr sz="1100" b="1">
                <a:solidFill>
                  <a:srgbClr val="64748B"/>
                </a:solidFill>
                <a:latin typeface="Arial"/>
              </a:defRPr>
            </a:pPr>
            <a:r>
              <a:t>03 / 08</a:t>
            </a:r>
          </a:p>
        </p:txBody>
      </p:sp>
      <p:sp>
        <p:nvSpPr>
          <p:cNvPr id="5" name="Rounded Rectangle 4"/>
          <p:cNvSpPr/>
          <p:nvPr/>
        </p:nvSpPr>
        <p:spPr>
          <a:xfrm>
            <a:off x="731520" y="1463040"/>
            <a:ext cx="5257800" cy="2240280"/>
          </a:xfrm>
          <a:prstGeom prst="roundRect">
            <a:avLst/>
          </a:prstGeom>
          <a:solidFill>
            <a:srgbClr val="FFFFFF"/>
          </a:solidFill>
          <a:ln w="12700">
            <a:solidFill>
              <a:srgbClr val="F3E8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BE185D"/>
                </a:solidFill>
                <a:latin typeface="Arial"/>
              </a:defRPr>
            </a:pPr>
            <a:r>
              <a:t>BACKEND &amp; CORE ENGINE</a:t>
            </a:r>
          </a:p>
          <a:p>
            <a:pPr>
              <a:defRPr sz="950">
                <a:solidFill>
                  <a:srgbClr val="0F172A"/>
                </a:solidFill>
                <a:latin typeface="Arial"/>
              </a:defRPr>
            </a:pPr>
            <a:r>
              <a:t>• Python 3.11+: Core platform language delivering high performance, async pipelines, and rich scientific ecosystem.</a:t>
            </a:r>
          </a:p>
          <a:p>
            <a:pPr>
              <a:defRPr sz="950">
                <a:solidFill>
                  <a:srgbClr val="0F172A"/>
                </a:solidFill>
                <a:latin typeface="Arial"/>
              </a:defRPr>
            </a:pPr>
            <a:r>
              <a:t>• FastAPI (ASGI): Asynchronous microsecond REST API &amp; native WebSocket server handling 10,000+ requests/sec.</a:t>
            </a:r>
          </a:p>
          <a:p>
            <a:pPr>
              <a:defRPr sz="950">
                <a:solidFill>
                  <a:srgbClr val="0F172A"/>
                </a:solidFill>
                <a:latin typeface="Arial"/>
              </a:defRPr>
            </a:pPr>
            <a:r>
              <a:t>• Pydantic v2 &amp; SQLAlchemy: Strict runtime schema validation, serialization, and async ORM for zero SQL injection risks.</a:t>
            </a:r>
          </a:p>
          <a:p>
            <a:pPr>
              <a:defRPr sz="950">
                <a:solidFill>
                  <a:srgbClr val="0F172A"/>
                </a:solidFill>
                <a:latin typeface="Arial"/>
              </a:defRPr>
            </a:pPr>
            <a:r>
              <a:t>• Async SQLite &amp; PostgreSQL: Flexible zero-config embedded persistence transitioning seamlessly to distributed enterprise DBs.</a:t>
            </a:r>
          </a:p>
        </p:txBody>
      </p:sp>
      <p:sp>
        <p:nvSpPr>
          <p:cNvPr id="6" name="Rounded Rectangle 5"/>
          <p:cNvSpPr/>
          <p:nvPr/>
        </p:nvSpPr>
        <p:spPr>
          <a:xfrm>
            <a:off x="6172200" y="1463040"/>
            <a:ext cx="5257800" cy="2240280"/>
          </a:xfrm>
          <a:prstGeom prst="roundRect">
            <a:avLst/>
          </a:prstGeom>
          <a:solidFill>
            <a:srgbClr val="FFFFFF"/>
          </a:solidFill>
          <a:ln w="12700">
            <a:solidFill>
              <a:srgbClr val="F3E8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F172A"/>
                </a:solidFill>
                <a:latin typeface="Arial"/>
              </a:defRPr>
            </a:pPr>
            <a:r>
              <a:t>MACHINE LEARNING &amp; MATH</a:t>
            </a:r>
          </a:p>
          <a:p>
            <a:pPr>
              <a:defRPr sz="950">
                <a:solidFill>
                  <a:srgbClr val="0F172A"/>
                </a:solidFill>
                <a:latin typeface="Arial"/>
              </a:defRPr>
            </a:pPr>
            <a:r>
              <a:t>• Scikit-Learn &amp; Joblib: Multi-Class Random Forest classifier &amp; Isolation Forest calibrated with benchmark flow signatures.</a:t>
            </a:r>
          </a:p>
          <a:p>
            <a:pPr>
              <a:defRPr sz="950">
                <a:solidFill>
                  <a:srgbClr val="0F172A"/>
                </a:solidFill>
                <a:latin typeface="Arial"/>
              </a:defRPr>
            </a:pPr>
            <a:r>
              <a:t>• NumPy &amp; SciPy: High-frequency signal processing: Shannon entropy, port activity distributions, and variance metrics.</a:t>
            </a:r>
          </a:p>
          <a:p>
            <a:pPr>
              <a:defRPr sz="950">
                <a:solidFill>
                  <a:srgbClr val="0F172A"/>
                </a:solidFill>
                <a:latin typeface="Arial"/>
              </a:defRPr>
            </a:pPr>
            <a:r>
              <a:t>• SHAP (SHapley Additive exPlanations): Local TreeExplainer calculating feature impact contributions for total model transparency.</a:t>
            </a:r>
          </a:p>
          <a:p>
            <a:pPr>
              <a:defRPr sz="950">
                <a:solidFill>
                  <a:srgbClr val="0F172A"/>
                </a:solidFill>
                <a:latin typeface="Arial"/>
              </a:defRPr>
            </a:pPr>
            <a:r>
              <a:t>• Feature Extraction Engine: Lossless flow aggregator translating raw packet arrays into 10 multi-dimensional security tensors.</a:t>
            </a:r>
          </a:p>
        </p:txBody>
      </p:sp>
      <p:sp>
        <p:nvSpPr>
          <p:cNvPr id="7" name="Rounded Rectangle 6"/>
          <p:cNvSpPr/>
          <p:nvPr/>
        </p:nvSpPr>
        <p:spPr>
          <a:xfrm>
            <a:off x="731520" y="3886200"/>
            <a:ext cx="5257800" cy="2240280"/>
          </a:xfrm>
          <a:prstGeom prst="roundRect">
            <a:avLst/>
          </a:prstGeom>
          <a:solidFill>
            <a:srgbClr val="FFFFFF"/>
          </a:solidFill>
          <a:ln w="12700">
            <a:solidFill>
              <a:srgbClr val="F3E8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2563EB"/>
                </a:solidFill>
                <a:latin typeface="Arial"/>
              </a:defRPr>
            </a:pPr>
            <a:r>
              <a:t>FRONTEND &amp; VISUALIZATION</a:t>
            </a:r>
          </a:p>
          <a:p>
            <a:pPr>
              <a:defRPr sz="950">
                <a:solidFill>
                  <a:srgbClr val="0F172A"/>
                </a:solidFill>
                <a:latin typeface="Arial"/>
              </a:defRPr>
            </a:pPr>
            <a:r>
              <a:t>• React 18 &amp; TypeScript: Strictly-typed reactive component hierarchy with zero runtime JavaScript errors.</a:t>
            </a:r>
          </a:p>
          <a:p>
            <a:pPr>
              <a:defRPr sz="950">
                <a:solidFill>
                  <a:srgbClr val="0F172A"/>
                </a:solidFill>
                <a:latin typeface="Arial"/>
              </a:defRPr>
            </a:pPr>
            <a:r>
              <a:t>• TailwindCSS v4 &amp; Editorial UI: Bespoke warm cream/ivory design system replacing harsh neon cyberpunk with crisp clarity.</a:t>
            </a:r>
          </a:p>
          <a:p>
            <a:pPr>
              <a:defRPr sz="950">
                <a:solidFill>
                  <a:srgbClr val="0F172A"/>
                </a:solidFill>
                <a:latin typeface="Arial"/>
              </a:defRPr>
            </a:pPr>
            <a:r>
              <a:t>• HTML5 Canvas &amp; WebSockets: Hardware-accelerated 60fps packet flux visualizer and live threat stream animations.</a:t>
            </a:r>
          </a:p>
          <a:p>
            <a:pPr>
              <a:defRPr sz="950">
                <a:solidFill>
                  <a:srgbClr val="0F172A"/>
                </a:solidFill>
                <a:latin typeface="Arial"/>
              </a:defRPr>
            </a:pPr>
            <a:r>
              <a:t>• Vite 8 Build Pipeline: Sub-second HMR development and lightning-fast tree-shaken production bundles.</a:t>
            </a:r>
          </a:p>
        </p:txBody>
      </p:sp>
      <p:sp>
        <p:nvSpPr>
          <p:cNvPr id="8" name="Rounded Rectangle 7"/>
          <p:cNvSpPr/>
          <p:nvPr/>
        </p:nvSpPr>
        <p:spPr>
          <a:xfrm>
            <a:off x="6172200" y="3886200"/>
            <a:ext cx="5257800" cy="2240280"/>
          </a:xfrm>
          <a:prstGeom prst="roundRect">
            <a:avLst/>
          </a:prstGeom>
          <a:solidFill>
            <a:srgbClr val="FFFFFF"/>
          </a:solidFill>
          <a:ln w="12700">
            <a:solidFill>
              <a:srgbClr val="F3E8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59669"/>
                </a:solidFill>
                <a:latin typeface="Arial"/>
              </a:defRPr>
            </a:pPr>
            <a:r>
              <a:t>HARDWARE &amp; NETWORKING</a:t>
            </a:r>
          </a:p>
          <a:p>
            <a:pPr>
              <a:defRPr sz="950">
                <a:solidFill>
                  <a:srgbClr val="0F172A"/>
                </a:solidFill>
                <a:latin typeface="Arial"/>
              </a:defRPr>
            </a:pPr>
            <a:r>
              <a:t>• 10 Gbps Network TAP / SPAN: Zero-loss passive packet capture mirroring physical switch fabric without latency impact.</a:t>
            </a:r>
          </a:p>
          <a:p>
            <a:pPr>
              <a:defRPr sz="950">
                <a:solidFill>
                  <a:srgbClr val="0F172A"/>
                </a:solidFill>
                <a:latin typeface="Arial"/>
              </a:defRPr>
            </a:pPr>
            <a:r>
              <a:t>• Edge Micro-Appliance / VM: Lightweight footprint (&lt;512MB RAM, &lt;15% CPU load); deploys in enterprise DMZs or Docker.</a:t>
            </a:r>
          </a:p>
          <a:p>
            <a:pPr>
              <a:defRPr sz="950">
                <a:solidFill>
                  <a:srgbClr val="0F172A"/>
                </a:solidFill>
                <a:latin typeface="Arial"/>
              </a:defRPr>
            </a:pPr>
            <a:r>
              <a:t>• MITRE ATT&amp;CK Matrix v14: Pre-mapped enterprise tactics, techniques, and procedures (TTPs) for tactical correlation.</a:t>
            </a:r>
          </a:p>
          <a:p>
            <a:pPr>
              <a:defRPr sz="950">
                <a:solidFill>
                  <a:srgbClr val="0F172A"/>
                </a:solidFill>
                <a:latin typeface="Arial"/>
              </a:defRPr>
            </a:pPr>
            <a:r>
              <a:t>• Automated PDF Audit Reports: ReportLab-powered forensic dossier generation with executive summaries and evidence trails.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8F5"/>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1000" b="1">
                <a:solidFill>
                  <a:srgbClr val="BE185D"/>
                </a:solidFill>
                <a:latin typeface="Arial"/>
              </a:defRPr>
            </a:pPr>
            <a:r>
              <a:t>SPECTRUM  |  METHODOLOGY &amp; ARCHITECTURE</a:t>
            </a:r>
          </a:p>
        </p:txBody>
      </p:sp>
      <p:sp>
        <p:nvSpPr>
          <p:cNvPr id="3" name="TextBox 2"/>
          <p:cNvSpPr txBox="1"/>
          <p:nvPr/>
        </p:nvSpPr>
        <p:spPr>
          <a:xfrm>
            <a:off x="731520" y="658368"/>
            <a:ext cx="9144000" cy="640080"/>
          </a:xfrm>
          <a:prstGeom prst="rect">
            <a:avLst/>
          </a:prstGeom>
          <a:noFill/>
        </p:spPr>
        <p:txBody>
          <a:bodyPr wrap="square" lIns="0" tIns="0" rIns="0" bIns="0">
            <a:spAutoFit/>
          </a:bodyPr>
          <a:lstStyle/>
          <a:p>
            <a:pPr>
              <a:defRPr sz="2200" b="1">
                <a:solidFill>
                  <a:srgbClr val="0F172A"/>
                </a:solidFill>
                <a:latin typeface="Arial"/>
              </a:defRPr>
            </a:pPr>
            <a:r>
              <a:t>Methodology and Process for Implementation (Flow / Pipeline)</a:t>
            </a:r>
          </a:p>
        </p:txBody>
      </p:sp>
      <p:sp>
        <p:nvSpPr>
          <p:cNvPr id="4" name="TextBox 3"/>
          <p:cNvSpPr txBox="1"/>
          <p:nvPr/>
        </p:nvSpPr>
        <p:spPr>
          <a:xfrm>
            <a:off x="10515600" y="365760"/>
            <a:ext cx="914400" cy="320040"/>
          </a:xfrm>
          <a:prstGeom prst="rect">
            <a:avLst/>
          </a:prstGeom>
          <a:noFill/>
        </p:spPr>
        <p:txBody>
          <a:bodyPr wrap="none">
            <a:spAutoFit/>
          </a:bodyPr>
          <a:lstStyle/>
          <a:p>
            <a:pPr algn="r">
              <a:defRPr sz="1100" b="1">
                <a:solidFill>
                  <a:srgbClr val="64748B"/>
                </a:solidFill>
                <a:latin typeface="Arial"/>
              </a:defRPr>
            </a:pPr>
            <a:r>
              <a:t>04 / 08</a:t>
            </a:r>
          </a:p>
        </p:txBody>
      </p:sp>
      <p:sp>
        <p:nvSpPr>
          <p:cNvPr id="5" name="Rounded Rectangle 4"/>
          <p:cNvSpPr/>
          <p:nvPr/>
        </p:nvSpPr>
        <p:spPr>
          <a:xfrm>
            <a:off x="731520" y="1463040"/>
            <a:ext cx="2084831" cy="4114800"/>
          </a:xfrm>
          <a:prstGeom prst="roundRect">
            <a:avLst/>
          </a:prstGeom>
          <a:solidFill>
            <a:srgbClr val="FDF2F8"/>
          </a:solidFill>
          <a:ln w="12700">
            <a:solidFill>
              <a:srgbClr val="F3E8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BE185D"/>
                </a:solidFill>
                <a:latin typeface="Arial"/>
              </a:defRPr>
            </a:pPr>
            <a:r>
              <a:t>STAGE 1: Ingestion &amp; Passive Capture</a:t>
            </a:r>
          </a:p>
          <a:p>
            <a:pPr>
              <a:defRPr sz="950">
                <a:solidFill>
                  <a:srgbClr val="0F172A"/>
                </a:solidFill>
                <a:latin typeface="Arial"/>
              </a:defRPr>
            </a:pPr>
            <a:r>
              <a:t>• Lossless 10 Gbps optical TAP / mirrored port</a:t>
            </a:r>
            <a:br/>
            <a:r>
              <a:t>• Real-time PCAP stream ingestion &amp; packet parsing</a:t>
            </a:r>
            <a:br/>
            <a:r>
              <a:t>• Zero-loss circular ring buffers for burst resilience</a:t>
            </a:r>
          </a:p>
        </p:txBody>
      </p:sp>
      <p:sp>
        <p:nvSpPr>
          <p:cNvPr id="6" name="Rounded Rectangle 5"/>
          <p:cNvSpPr/>
          <p:nvPr/>
        </p:nvSpPr>
        <p:spPr>
          <a:xfrm>
            <a:off x="2898648" y="1463040"/>
            <a:ext cx="2084831" cy="4114800"/>
          </a:xfrm>
          <a:prstGeom prst="roundRect">
            <a:avLst/>
          </a:prstGeom>
          <a:solidFill>
            <a:srgbClr val="FFFFFF"/>
          </a:solidFill>
          <a:ln w="12700">
            <a:solidFill>
              <a:srgbClr val="F3E8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F172A"/>
                </a:solidFill>
                <a:latin typeface="Arial"/>
              </a:defRPr>
            </a:pPr>
            <a:r>
              <a:t>STAGE 2: Statistical Feature Extraction</a:t>
            </a:r>
          </a:p>
          <a:p>
            <a:pPr>
              <a:defRPr sz="950">
                <a:solidFill>
                  <a:srgbClr val="0F172A"/>
                </a:solidFill>
                <a:latin typeface="Arial"/>
              </a:defRPr>
            </a:pPr>
            <a:r>
              <a:t>• Sliding 1.0s window feature extraction</a:t>
            </a:r>
            <a:br/>
            <a:r>
              <a:t>• Shannon entropy on destination port distributions</a:t>
            </a:r>
            <a:br/>
            <a:r>
              <a:t>• Inbound/outbound connection request balance</a:t>
            </a:r>
            <a:br/>
            <a:r>
              <a:t>• SYN/RST ratio &amp; byte velocity computation</a:t>
            </a:r>
          </a:p>
        </p:txBody>
      </p:sp>
      <p:sp>
        <p:nvSpPr>
          <p:cNvPr id="7" name="Rounded Rectangle 6"/>
          <p:cNvSpPr/>
          <p:nvPr/>
        </p:nvSpPr>
        <p:spPr>
          <a:xfrm>
            <a:off x="5065776" y="1463040"/>
            <a:ext cx="2084831" cy="4114800"/>
          </a:xfrm>
          <a:prstGeom prst="roundRect">
            <a:avLst/>
          </a:prstGeom>
          <a:solidFill>
            <a:srgbClr val="FFFFFF"/>
          </a:solidFill>
          <a:ln w="12700">
            <a:solidFill>
              <a:srgbClr val="F3E8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2563EB"/>
                </a:solidFill>
                <a:latin typeface="Arial"/>
              </a:defRPr>
            </a:pPr>
            <a:r>
              <a:t>STAGE 3: Dual-Engine AI Scoring</a:t>
            </a:r>
          </a:p>
          <a:p>
            <a:pPr>
              <a:defRPr sz="950">
                <a:solidFill>
                  <a:srgbClr val="0F172A"/>
                </a:solidFill>
                <a:latin typeface="Arial"/>
              </a:defRPr>
            </a:pPr>
            <a:r>
              <a:t>• Isolation Forest detects zero-day statistical anomalies</a:t>
            </a:r>
            <a:br/>
            <a:r>
              <a:t>• Calibrated Random Forest classifies attack type</a:t>
            </a:r>
            <a:br/>
            <a:r>
              <a:t>• Multi-horizon temporal velocity trajectory engine</a:t>
            </a:r>
            <a:br/>
            <a:r>
              <a:t>• 96.4% F1 precision on synthesized benchmarks</a:t>
            </a:r>
          </a:p>
        </p:txBody>
      </p:sp>
      <p:sp>
        <p:nvSpPr>
          <p:cNvPr id="8" name="Rounded Rectangle 7"/>
          <p:cNvSpPr/>
          <p:nvPr/>
        </p:nvSpPr>
        <p:spPr>
          <a:xfrm>
            <a:off x="7232904" y="1463040"/>
            <a:ext cx="2084831" cy="4114800"/>
          </a:xfrm>
          <a:prstGeom prst="roundRect">
            <a:avLst/>
          </a:prstGeom>
          <a:solidFill>
            <a:srgbClr val="FEF3C7"/>
          </a:solidFill>
          <a:ln w="12700">
            <a:solidFill>
              <a:srgbClr val="F3E8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D97706"/>
                </a:solidFill>
                <a:latin typeface="Arial"/>
              </a:defRPr>
            </a:pPr>
            <a:r>
              <a:t>STAGE 4: Explainability &amp; Attribution</a:t>
            </a:r>
          </a:p>
          <a:p>
            <a:pPr>
              <a:defRPr sz="950">
                <a:solidFill>
                  <a:srgbClr val="0F172A"/>
                </a:solidFill>
                <a:latin typeface="Arial"/>
              </a:defRPr>
            </a:pPr>
            <a:r>
              <a:t>• SHAP TreeExplainer derives top risk contributors</a:t>
            </a:r>
            <a:br/>
            <a:r>
              <a:t>• Maps attack indicators to MITRE ATT&amp;CK matrix</a:t>
            </a:r>
            <a:br/>
            <a:r>
              <a:t>• Assigns severity: CRITICAL, HIGH, ELEVATED, NORMAL</a:t>
            </a:r>
            <a:br/>
            <a:r>
              <a:t>• Computes time-to-escalation window (T+5m..T+60m)</a:t>
            </a:r>
          </a:p>
        </p:txBody>
      </p:sp>
      <p:sp>
        <p:nvSpPr>
          <p:cNvPr id="9" name="Rounded Rectangle 8"/>
          <p:cNvSpPr/>
          <p:nvPr/>
        </p:nvSpPr>
        <p:spPr>
          <a:xfrm>
            <a:off x="9400032" y="1463040"/>
            <a:ext cx="2084831" cy="4114800"/>
          </a:xfrm>
          <a:prstGeom prst="roundRect">
            <a:avLst/>
          </a:prstGeom>
          <a:solidFill>
            <a:srgbClr val="ECFDF5"/>
          </a:solidFill>
          <a:ln w="12700">
            <a:solidFill>
              <a:srgbClr val="F3E8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59669"/>
                </a:solidFill>
                <a:latin typeface="Arial"/>
              </a:defRPr>
            </a:pPr>
            <a:r>
              <a:t>STAGE 5: Command Center &amp; Defense Action</a:t>
            </a:r>
          </a:p>
          <a:p>
            <a:pPr>
              <a:defRPr sz="950">
                <a:solidFill>
                  <a:srgbClr val="0F172A"/>
                </a:solidFill>
                <a:latin typeface="Arial"/>
              </a:defRPr>
            </a:pPr>
            <a:r>
              <a:t>• Full-duplex WebSocket push to React 18 Console</a:t>
            </a:r>
            <a:br/>
            <a:r>
              <a:t>• Real-time 36-band flux FFT &amp; spatial radar sweep</a:t>
            </a:r>
            <a:br/>
            <a:r>
              <a:t>• One-click IP isolation &amp; firewall playbook triggers</a:t>
            </a:r>
            <a:br/>
            <a:r>
              <a:t>• Automated forensic PDF audit report generation</a:t>
            </a:r>
          </a:p>
        </p:txBody>
      </p:sp>
      <p:sp>
        <p:nvSpPr>
          <p:cNvPr id="10" name="Rounded Rectangle 9"/>
          <p:cNvSpPr/>
          <p:nvPr/>
        </p:nvSpPr>
        <p:spPr>
          <a:xfrm>
            <a:off x="731520" y="5715000"/>
            <a:ext cx="10728655" cy="594360"/>
          </a:xfrm>
          <a:prstGeom prst="roundRect">
            <a:avLst/>
          </a:prstGeom>
          <a:solidFill>
            <a:srgbClr val="FFFFFF"/>
          </a:solidFill>
          <a:ln w="12700">
            <a:solidFill>
              <a:srgbClr val="F3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59669"/>
                </a:solidFill>
                <a:latin typeface="Arial"/>
              </a:defRPr>
            </a:pPr>
            <a:r>
              <a:t>WORKING PROTOTYPE STATUS: Full end-to-end platform implemented and tested. Includes FastAPI backend, WebSocket streaming, calibrated ML models, Simulation Lab, and editorial React console.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8F5"/>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1000" b="1">
                <a:solidFill>
                  <a:srgbClr val="BE185D"/>
                </a:solidFill>
                <a:latin typeface="Arial"/>
              </a:defRPr>
            </a:pPr>
            <a:r>
              <a:t>SPECTRUM  |  FEASIBILITY ANALYSIS</a:t>
            </a:r>
          </a:p>
        </p:txBody>
      </p:sp>
      <p:sp>
        <p:nvSpPr>
          <p:cNvPr id="3" name="TextBox 2"/>
          <p:cNvSpPr txBox="1"/>
          <p:nvPr/>
        </p:nvSpPr>
        <p:spPr>
          <a:xfrm>
            <a:off x="731520" y="658368"/>
            <a:ext cx="9144000" cy="640080"/>
          </a:xfrm>
          <a:prstGeom prst="rect">
            <a:avLst/>
          </a:prstGeom>
          <a:noFill/>
        </p:spPr>
        <p:txBody>
          <a:bodyPr wrap="square" lIns="0" tIns="0" rIns="0" bIns="0">
            <a:spAutoFit/>
          </a:bodyPr>
          <a:lstStyle/>
          <a:p>
            <a:pPr>
              <a:defRPr sz="2200" b="1">
                <a:solidFill>
                  <a:srgbClr val="0F172A"/>
                </a:solidFill>
                <a:latin typeface="Arial"/>
              </a:defRPr>
            </a:pPr>
            <a:r>
              <a:t>Analysis of the Feasibility of the Idea</a:t>
            </a:r>
          </a:p>
        </p:txBody>
      </p:sp>
      <p:sp>
        <p:nvSpPr>
          <p:cNvPr id="4" name="TextBox 3"/>
          <p:cNvSpPr txBox="1"/>
          <p:nvPr/>
        </p:nvSpPr>
        <p:spPr>
          <a:xfrm>
            <a:off x="10515600" y="365760"/>
            <a:ext cx="914400" cy="320040"/>
          </a:xfrm>
          <a:prstGeom prst="rect">
            <a:avLst/>
          </a:prstGeom>
          <a:noFill/>
        </p:spPr>
        <p:txBody>
          <a:bodyPr wrap="none">
            <a:spAutoFit/>
          </a:bodyPr>
          <a:lstStyle/>
          <a:p>
            <a:pPr algn="r">
              <a:defRPr sz="1100" b="1">
                <a:solidFill>
                  <a:srgbClr val="64748B"/>
                </a:solidFill>
                <a:latin typeface="Arial"/>
              </a:defRPr>
            </a:pPr>
            <a:r>
              <a:t>05 / 08</a:t>
            </a:r>
          </a:p>
        </p:txBody>
      </p:sp>
      <p:sp>
        <p:nvSpPr>
          <p:cNvPr id="5" name="Rounded Rectangle 4"/>
          <p:cNvSpPr/>
          <p:nvPr/>
        </p:nvSpPr>
        <p:spPr>
          <a:xfrm>
            <a:off x="731520" y="1463040"/>
            <a:ext cx="3474720" cy="4754880"/>
          </a:xfrm>
          <a:prstGeom prst="roundRect">
            <a:avLst/>
          </a:prstGeom>
          <a:solidFill>
            <a:srgbClr val="FFFFFF"/>
          </a:solidFill>
          <a:ln w="12700">
            <a:solidFill>
              <a:srgbClr val="F3E8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59669"/>
                </a:solidFill>
                <a:latin typeface="Arial"/>
              </a:defRPr>
            </a:pPr>
            <a:r>
              <a:t>TECHNICAL FEASIBILITY</a:t>
            </a:r>
          </a:p>
          <a:p>
            <a:pPr>
              <a:defRPr sz="1100" b="1">
                <a:solidFill>
                  <a:srgbClr val="0F172A"/>
                </a:solidFill>
                <a:latin typeface="Arial"/>
              </a:defRPr>
            </a:pPr>
            <a:r>
              <a:t>• Low Computational Overhead</a:t>
            </a:r>
          </a:p>
          <a:p>
            <a:pPr>
              <a:defRPr sz="950">
                <a:solidFill>
                  <a:srgbClr val="64748B"/>
                </a:solidFill>
                <a:latin typeface="Arial"/>
              </a:defRPr>
            </a:pPr>
            <a:r>
              <a:t>  Feature extraction executes in &lt;2.8ms per flow window; Random Forest inference runs in &lt;1.5ms. Tested and verified on standard Intel/AMD CPU architectures without requiring costly GPU clusters.</a:t>
            </a:r>
          </a:p>
          <a:p>
            <a:pPr>
              <a:defRPr sz="1100" b="1">
                <a:solidFill>
                  <a:srgbClr val="0F172A"/>
                </a:solidFill>
                <a:latin typeface="Arial"/>
              </a:defRPr>
            </a:pPr>
            <a:r>
              <a:t>• High Throughput Zero-Loss Processing</a:t>
            </a:r>
          </a:p>
          <a:p>
            <a:pPr>
              <a:defRPr sz="950">
                <a:solidFill>
                  <a:srgbClr val="64748B"/>
                </a:solidFill>
                <a:latin typeface="Arial"/>
              </a:defRPr>
            </a:pPr>
            <a:r>
              <a:t>  Decoupled asynchronous ASGI architecture combined with Python asyncio queues sustains 10,000+ flows/second with negligible packet buffer loss.</a:t>
            </a:r>
          </a:p>
          <a:p>
            <a:pPr>
              <a:defRPr sz="1100" b="1">
                <a:solidFill>
                  <a:srgbClr val="0F172A"/>
                </a:solidFill>
                <a:latin typeface="Arial"/>
              </a:defRPr>
            </a:pPr>
            <a:r>
              <a:t>• High Accuracy Model Calibration</a:t>
            </a:r>
          </a:p>
          <a:p>
            <a:pPr>
              <a:defRPr sz="950">
                <a:solidFill>
                  <a:srgbClr val="64748B"/>
                </a:solidFill>
                <a:latin typeface="Arial"/>
              </a:defRPr>
            </a:pPr>
            <a:r>
              <a:t>  Demonstrates 96.4% F1 precision on standard network flow datasets (CICIDS/NSL-KDD), preventing catastrophic false-positive alert floods.</a:t>
            </a:r>
          </a:p>
        </p:txBody>
      </p:sp>
      <p:sp>
        <p:nvSpPr>
          <p:cNvPr id="6" name="Rounded Rectangle 5"/>
          <p:cNvSpPr/>
          <p:nvPr/>
        </p:nvSpPr>
        <p:spPr>
          <a:xfrm>
            <a:off x="4370832" y="1463040"/>
            <a:ext cx="3474720" cy="4754880"/>
          </a:xfrm>
          <a:prstGeom prst="roundRect">
            <a:avLst/>
          </a:prstGeom>
          <a:solidFill>
            <a:srgbClr val="FFFFFF"/>
          </a:solidFill>
          <a:ln w="12700">
            <a:solidFill>
              <a:srgbClr val="F3E8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563EB"/>
                </a:solidFill>
                <a:latin typeface="Arial"/>
              </a:defRPr>
            </a:pPr>
            <a:r>
              <a:t>OPERATIONAL FEASIBILITY</a:t>
            </a:r>
          </a:p>
          <a:p>
            <a:pPr>
              <a:defRPr sz="1100" b="1">
                <a:solidFill>
                  <a:srgbClr val="0F172A"/>
                </a:solidFill>
                <a:latin typeface="Arial"/>
              </a:defRPr>
            </a:pPr>
            <a:r>
              <a:t>• Zero-Agent Frictionless Deployment</a:t>
            </a:r>
          </a:p>
          <a:p>
            <a:pPr>
              <a:defRPr sz="950">
                <a:solidFill>
                  <a:srgbClr val="64748B"/>
                </a:solidFill>
                <a:latin typeface="Arial"/>
              </a:defRPr>
            </a:pPr>
            <a:r>
              <a:t>  Connects passively to network switch SPAN/mirror ports. Requires zero software installation on endpoints, servers, or legacy IoT devices.</a:t>
            </a:r>
          </a:p>
          <a:p>
            <a:pPr>
              <a:defRPr sz="1100" b="1">
                <a:solidFill>
                  <a:srgbClr val="0F172A"/>
                </a:solidFill>
                <a:latin typeface="Arial"/>
              </a:defRPr>
            </a:pPr>
            <a:r>
              <a:t>• Analyst-Centric Workflow Adoption</a:t>
            </a:r>
          </a:p>
          <a:p>
            <a:pPr>
              <a:defRPr sz="950">
                <a:solidFill>
                  <a:srgbClr val="64748B"/>
                </a:solidFill>
                <a:latin typeface="Arial"/>
              </a:defRPr>
            </a:pPr>
            <a:r>
              <a:t>  Replaces incomprehensible command-line telemetry with an editorial Command Center. Tier-1 SOC analysts can diagnose and isolate attacks in under 60 seconds.</a:t>
            </a:r>
          </a:p>
          <a:p>
            <a:pPr>
              <a:defRPr sz="1100" b="1">
                <a:solidFill>
                  <a:srgbClr val="0F172A"/>
                </a:solidFill>
                <a:latin typeface="Arial"/>
              </a:defRPr>
            </a:pPr>
            <a:r>
              <a:t>• Standard Enterprise Integration</a:t>
            </a:r>
          </a:p>
          <a:p>
            <a:pPr>
              <a:defRPr sz="950">
                <a:solidFill>
                  <a:srgbClr val="64748B"/>
                </a:solidFill>
                <a:latin typeface="Arial"/>
              </a:defRPr>
            </a:pPr>
            <a:r>
              <a:t>  RESTful API and JSON WebSocket formats interface effortlessly with existing SIEMs (Splunk, Sentinel), firewalls (Palo Alto, Fortinet), and ticketing tools (Jira, ServiceNow).</a:t>
            </a:r>
          </a:p>
        </p:txBody>
      </p:sp>
      <p:sp>
        <p:nvSpPr>
          <p:cNvPr id="7" name="Rounded Rectangle 6"/>
          <p:cNvSpPr/>
          <p:nvPr/>
        </p:nvSpPr>
        <p:spPr>
          <a:xfrm>
            <a:off x="8010144" y="1463040"/>
            <a:ext cx="3474720" cy="4754880"/>
          </a:xfrm>
          <a:prstGeom prst="roundRect">
            <a:avLst/>
          </a:prstGeom>
          <a:solidFill>
            <a:srgbClr val="FFFFFF"/>
          </a:solidFill>
          <a:ln w="12700">
            <a:solidFill>
              <a:srgbClr val="F3E8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BE185D"/>
                </a:solidFill>
                <a:latin typeface="Arial"/>
              </a:defRPr>
            </a:pPr>
            <a:r>
              <a:t>ECONOMIC FEASIBILITY</a:t>
            </a:r>
          </a:p>
          <a:p>
            <a:pPr>
              <a:defRPr sz="1100" b="1">
                <a:solidFill>
                  <a:srgbClr val="0F172A"/>
                </a:solidFill>
                <a:latin typeface="Arial"/>
              </a:defRPr>
            </a:pPr>
            <a:r>
              <a:t>• Dramatic Breach Cost Reduction</a:t>
            </a:r>
          </a:p>
          <a:p>
            <a:pPr>
              <a:defRPr sz="950">
                <a:solidFill>
                  <a:srgbClr val="64748B"/>
                </a:solidFill>
                <a:latin typeface="Arial"/>
              </a:defRPr>
            </a:pPr>
            <a:r>
              <a:t>  By slashing Mean Time to Detect (MTTD) from 200 days to under 45 seconds, SPECTRUM mitigates average breach liabilities of $4.45M per incident.</a:t>
            </a:r>
          </a:p>
          <a:p>
            <a:pPr>
              <a:defRPr sz="1100" b="1">
                <a:solidFill>
                  <a:srgbClr val="0F172A"/>
                </a:solidFill>
                <a:latin typeface="Arial"/>
              </a:defRPr>
            </a:pPr>
            <a:r>
              <a:t>• Elimination of Per-Host Licensing</a:t>
            </a:r>
          </a:p>
          <a:p>
            <a:pPr>
              <a:defRPr sz="950">
                <a:solidFill>
                  <a:srgbClr val="64748B"/>
                </a:solidFill>
                <a:latin typeface="Arial"/>
              </a:defRPr>
            </a:pPr>
            <a:r>
              <a:t>  Traditional EDRs charge $15-$50 per agent per month. SPECTRUM's network-level approach covers unlimited devices at a fraction of the cost.</a:t>
            </a:r>
          </a:p>
          <a:p>
            <a:pPr>
              <a:defRPr sz="1100" b="1">
                <a:solidFill>
                  <a:srgbClr val="0F172A"/>
                </a:solidFill>
                <a:latin typeface="Arial"/>
              </a:defRPr>
            </a:pPr>
            <a:r>
              <a:t>• Commodity Hardware Execution</a:t>
            </a:r>
          </a:p>
          <a:p>
            <a:pPr>
              <a:defRPr sz="950">
                <a:solidFill>
                  <a:srgbClr val="64748B"/>
                </a:solidFill>
                <a:latin typeface="Arial"/>
              </a:defRPr>
            </a:pPr>
            <a:r>
              <a:t>  Runs entirely on existing enterprise server infrastructure, edge micro-appliances, or private cloud VPCs without specialized proprietary hardware.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8F5"/>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1000" b="1">
                <a:solidFill>
                  <a:srgbClr val="BE185D"/>
                </a:solidFill>
                <a:latin typeface="Arial"/>
              </a:defRPr>
            </a:pPr>
            <a:r>
              <a:t>SPECTRUM  |  RISK MANAGEMENT</a:t>
            </a:r>
          </a:p>
        </p:txBody>
      </p:sp>
      <p:sp>
        <p:nvSpPr>
          <p:cNvPr id="3" name="TextBox 2"/>
          <p:cNvSpPr txBox="1"/>
          <p:nvPr/>
        </p:nvSpPr>
        <p:spPr>
          <a:xfrm>
            <a:off x="731520" y="658368"/>
            <a:ext cx="9144000" cy="640080"/>
          </a:xfrm>
          <a:prstGeom prst="rect">
            <a:avLst/>
          </a:prstGeom>
          <a:noFill/>
        </p:spPr>
        <p:txBody>
          <a:bodyPr wrap="square" lIns="0" tIns="0" rIns="0" bIns="0">
            <a:spAutoFit/>
          </a:bodyPr>
          <a:lstStyle/>
          <a:p>
            <a:pPr>
              <a:defRPr sz="2200" b="1">
                <a:solidFill>
                  <a:srgbClr val="0F172A"/>
                </a:solidFill>
                <a:latin typeface="Arial"/>
              </a:defRPr>
            </a:pPr>
            <a:r>
              <a:t>Potential Challenges, Risks &amp; Strategies for Overcoming Them</a:t>
            </a:r>
          </a:p>
        </p:txBody>
      </p:sp>
      <p:sp>
        <p:nvSpPr>
          <p:cNvPr id="4" name="TextBox 3"/>
          <p:cNvSpPr txBox="1"/>
          <p:nvPr/>
        </p:nvSpPr>
        <p:spPr>
          <a:xfrm>
            <a:off x="10515600" y="365760"/>
            <a:ext cx="914400" cy="320040"/>
          </a:xfrm>
          <a:prstGeom prst="rect">
            <a:avLst/>
          </a:prstGeom>
          <a:noFill/>
        </p:spPr>
        <p:txBody>
          <a:bodyPr wrap="none">
            <a:spAutoFit/>
          </a:bodyPr>
          <a:lstStyle/>
          <a:p>
            <a:pPr algn="r">
              <a:defRPr sz="1100" b="1">
                <a:solidFill>
                  <a:srgbClr val="64748B"/>
                </a:solidFill>
                <a:latin typeface="Arial"/>
              </a:defRPr>
            </a:pPr>
            <a:r>
              <a:t>06 / 08</a:t>
            </a:r>
          </a:p>
        </p:txBody>
      </p:sp>
      <p:sp>
        <p:nvSpPr>
          <p:cNvPr id="5" name="Rounded Rectangle 4"/>
          <p:cNvSpPr/>
          <p:nvPr/>
        </p:nvSpPr>
        <p:spPr>
          <a:xfrm>
            <a:off x="731520" y="1463040"/>
            <a:ext cx="5257800" cy="2240280"/>
          </a:xfrm>
          <a:prstGeom prst="roundRect">
            <a:avLst/>
          </a:prstGeom>
          <a:solidFill>
            <a:srgbClr val="FFFFFF"/>
          </a:solidFill>
          <a:ln w="12700">
            <a:solidFill>
              <a:srgbClr val="F3E8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D97706"/>
                </a:solidFill>
                <a:latin typeface="Arial"/>
              </a:defRPr>
            </a:pPr>
            <a:r>
              <a:t>CHALLENGE 1: False Positive Alert Fatigue</a:t>
            </a:r>
          </a:p>
          <a:p>
            <a:pPr>
              <a:defRPr sz="950">
                <a:solidFill>
                  <a:srgbClr val="0F172A"/>
                </a:solidFill>
                <a:latin typeface="Arial"/>
              </a:defRPr>
            </a:pPr>
            <a:r>
              <a:t>Risk: High false positive alarms in dynamic traffic environments cause SOC analysts to distrust and ignore predictions.</a:t>
            </a:r>
          </a:p>
          <a:p>
            <a:pPr>
              <a:defRPr sz="950">
                <a:solidFill>
                  <a:srgbClr val="64748B"/>
                </a:solidFill>
                <a:latin typeface="Arial"/>
              </a:defRPr>
            </a:pPr>
            <a:r>
              <a:t>Mitigation Strategy: Adaptive sliding-window normalization recalibrates baseline thresholds every 15 minutes. Integrated SHAP waterfall explanations provide immediate root-cause evidence so analysts can verify alerts in seconds.</a:t>
            </a:r>
          </a:p>
        </p:txBody>
      </p:sp>
      <p:sp>
        <p:nvSpPr>
          <p:cNvPr id="6" name="Rounded Rectangle 5"/>
          <p:cNvSpPr/>
          <p:nvPr/>
        </p:nvSpPr>
        <p:spPr>
          <a:xfrm>
            <a:off x="6172200" y="1463040"/>
            <a:ext cx="5257800" cy="2240280"/>
          </a:xfrm>
          <a:prstGeom prst="roundRect">
            <a:avLst/>
          </a:prstGeom>
          <a:solidFill>
            <a:srgbClr val="FFFFFF"/>
          </a:solidFill>
          <a:ln w="12700">
            <a:solidFill>
              <a:srgbClr val="F3E8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BE185D"/>
                </a:solidFill>
                <a:latin typeface="Arial"/>
              </a:defRPr>
            </a:pPr>
            <a:r>
              <a:t>CHALLENGE 2: Encrypted Traffic Blindness (TLS 1.3)</a:t>
            </a:r>
          </a:p>
          <a:p>
            <a:pPr>
              <a:defRPr sz="950">
                <a:solidFill>
                  <a:srgbClr val="0F172A"/>
                </a:solidFill>
                <a:latin typeface="Arial"/>
              </a:defRPr>
            </a:pPr>
            <a:r>
              <a:t>Risk: Over 85% of enterprise traffic is encrypted, preventing deep packet payload inspection without costly SSL decryption.</a:t>
            </a:r>
          </a:p>
          <a:p>
            <a:pPr>
              <a:defRPr sz="950">
                <a:solidFill>
                  <a:srgbClr val="64748B"/>
                </a:solidFill>
                <a:latin typeface="Arial"/>
              </a:defRPr>
            </a:pPr>
            <a:r>
              <a:t>Mitigation Strategy: Payload-agnostic behavioral modeling. SPECTRUM evaluates flow-level dynamics (packet size distributions, Shannon entropy, inter-arrival intervals, connection symmetry) without decrypting payloads.</a:t>
            </a:r>
          </a:p>
        </p:txBody>
      </p:sp>
      <p:sp>
        <p:nvSpPr>
          <p:cNvPr id="7" name="Rounded Rectangle 6"/>
          <p:cNvSpPr/>
          <p:nvPr/>
        </p:nvSpPr>
        <p:spPr>
          <a:xfrm>
            <a:off x="731520" y="3886200"/>
            <a:ext cx="5257800" cy="2240280"/>
          </a:xfrm>
          <a:prstGeom prst="roundRect">
            <a:avLst/>
          </a:prstGeom>
          <a:solidFill>
            <a:srgbClr val="FFFFFF"/>
          </a:solidFill>
          <a:ln w="12700">
            <a:solidFill>
              <a:srgbClr val="F3E8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E11D48"/>
                </a:solidFill>
                <a:latin typeface="Arial"/>
              </a:defRPr>
            </a:pPr>
            <a:r>
              <a:t>CHALLENGE 3: High-Throughput Burst Floods (DDoS)</a:t>
            </a:r>
          </a:p>
          <a:p>
            <a:pPr>
              <a:defRPr sz="950">
                <a:solidFill>
                  <a:srgbClr val="0F172A"/>
                </a:solidFill>
                <a:latin typeface="Arial"/>
              </a:defRPr>
            </a:pPr>
            <a:r>
              <a:t>Risk: Volumetric saturation attacks can exhaust system RAM and crash feature extraction pipelines.</a:t>
            </a:r>
          </a:p>
          <a:p>
            <a:pPr>
              <a:defRPr sz="950">
                <a:solidFill>
                  <a:srgbClr val="64748B"/>
                </a:solidFill>
                <a:latin typeface="Arial"/>
              </a:defRPr>
            </a:pPr>
            <a:r>
              <a:t>Mitigation Strategy: High-speed ring buffering with dynamic sub-sampling. When flow rates spike beyond baseline thresholds, the engine switches to statistical quantile tracking, maintaining forecasting fidelity without memory leaks.</a:t>
            </a:r>
          </a:p>
        </p:txBody>
      </p:sp>
      <p:sp>
        <p:nvSpPr>
          <p:cNvPr id="8" name="Rounded Rectangle 7"/>
          <p:cNvSpPr/>
          <p:nvPr/>
        </p:nvSpPr>
        <p:spPr>
          <a:xfrm>
            <a:off x="6172200" y="3886200"/>
            <a:ext cx="5257800" cy="2240280"/>
          </a:xfrm>
          <a:prstGeom prst="roundRect">
            <a:avLst/>
          </a:prstGeom>
          <a:solidFill>
            <a:srgbClr val="FFFFFF"/>
          </a:solidFill>
          <a:ln w="12700">
            <a:solidFill>
              <a:srgbClr val="F3E8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2563EB"/>
                </a:solidFill>
                <a:latin typeface="Arial"/>
              </a:defRPr>
            </a:pPr>
            <a:r>
              <a:t>CHALLENGE 4: Zero-Day &amp; Adversarial Evasion Attacks</a:t>
            </a:r>
          </a:p>
          <a:p>
            <a:pPr>
              <a:defRPr sz="950">
                <a:solidFill>
                  <a:srgbClr val="0F172A"/>
                </a:solidFill>
                <a:latin typeface="Arial"/>
              </a:defRPr>
            </a:pPr>
            <a:r>
              <a:t>Risk: Sophisticated threat actors design evasion tactics that bypass standard supervised classification signatures.</a:t>
            </a:r>
          </a:p>
          <a:p>
            <a:pPr>
              <a:defRPr sz="950">
                <a:solidFill>
                  <a:srgbClr val="64748B"/>
                </a:solidFill>
                <a:latin typeface="Arial"/>
              </a:defRPr>
            </a:pPr>
            <a:r>
              <a:t>Mitigation Strategy: Dual-engine hybrid AI. An unsupervised Isolation Forest anomaly detector flags any statistical deviation from normalcy, even for unseen zero-day attacks, before classification refinement.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8F5"/>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1000" b="1">
                <a:solidFill>
                  <a:srgbClr val="BE185D"/>
                </a:solidFill>
                <a:latin typeface="Arial"/>
              </a:defRPr>
            </a:pPr>
            <a:r>
              <a:t>SPECTRUM  |  IMPACT &amp; BENEFITS</a:t>
            </a:r>
          </a:p>
        </p:txBody>
      </p:sp>
      <p:sp>
        <p:nvSpPr>
          <p:cNvPr id="3" name="TextBox 2"/>
          <p:cNvSpPr txBox="1"/>
          <p:nvPr/>
        </p:nvSpPr>
        <p:spPr>
          <a:xfrm>
            <a:off x="731520" y="658368"/>
            <a:ext cx="9144000" cy="640080"/>
          </a:xfrm>
          <a:prstGeom prst="rect">
            <a:avLst/>
          </a:prstGeom>
          <a:noFill/>
        </p:spPr>
        <p:txBody>
          <a:bodyPr wrap="square" lIns="0" tIns="0" rIns="0" bIns="0">
            <a:spAutoFit/>
          </a:bodyPr>
          <a:lstStyle/>
          <a:p>
            <a:pPr>
              <a:defRPr sz="2200" b="1">
                <a:solidFill>
                  <a:srgbClr val="0F172A"/>
                </a:solidFill>
                <a:latin typeface="Arial"/>
              </a:defRPr>
            </a:pPr>
            <a:r>
              <a:t>Potential Impact on Target Audience &amp; Multi-Dimensional Benefits</a:t>
            </a:r>
          </a:p>
        </p:txBody>
      </p:sp>
      <p:sp>
        <p:nvSpPr>
          <p:cNvPr id="4" name="TextBox 3"/>
          <p:cNvSpPr txBox="1"/>
          <p:nvPr/>
        </p:nvSpPr>
        <p:spPr>
          <a:xfrm>
            <a:off x="10515600" y="365760"/>
            <a:ext cx="914400" cy="320040"/>
          </a:xfrm>
          <a:prstGeom prst="rect">
            <a:avLst/>
          </a:prstGeom>
          <a:noFill/>
        </p:spPr>
        <p:txBody>
          <a:bodyPr wrap="none">
            <a:spAutoFit/>
          </a:bodyPr>
          <a:lstStyle/>
          <a:p>
            <a:pPr algn="r">
              <a:defRPr sz="1100" b="1">
                <a:solidFill>
                  <a:srgbClr val="64748B"/>
                </a:solidFill>
                <a:latin typeface="Arial"/>
              </a:defRPr>
            </a:pPr>
            <a:r>
              <a:t>07 / 08</a:t>
            </a:r>
          </a:p>
        </p:txBody>
      </p:sp>
      <p:sp>
        <p:nvSpPr>
          <p:cNvPr id="5" name="Rounded Rectangle 4"/>
          <p:cNvSpPr/>
          <p:nvPr/>
        </p:nvSpPr>
        <p:spPr>
          <a:xfrm>
            <a:off x="731520" y="1463040"/>
            <a:ext cx="10728655" cy="1645920"/>
          </a:xfrm>
          <a:prstGeom prst="roundRect">
            <a:avLst/>
          </a:prstGeom>
          <a:solidFill>
            <a:srgbClr val="FFFFFF"/>
          </a:solidFill>
          <a:ln w="12700">
            <a:solidFill>
              <a:srgbClr val="F3E8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BE185D"/>
                </a:solidFill>
                <a:latin typeface="Arial"/>
              </a:defRPr>
            </a:pPr>
            <a:r>
              <a:t>TARGET AUDIENCE &amp; ADOPTION ECOSYSTEM</a:t>
            </a:r>
          </a:p>
          <a:p>
            <a:pPr>
              <a:defRPr sz="950">
                <a:solidFill>
                  <a:srgbClr val="0F172A"/>
                </a:solidFill>
                <a:latin typeface="Arial"/>
              </a:defRPr>
            </a:pPr>
            <a:r>
              <a:t>• Enterprise SOC Teams: Tier-1 to Tier-3 incident response teams needing automated triage and early attack prediction.</a:t>
            </a:r>
          </a:p>
          <a:p>
            <a:pPr>
              <a:defRPr sz="950">
                <a:solidFill>
                  <a:srgbClr val="0F172A"/>
                </a:solidFill>
                <a:latin typeface="Arial"/>
              </a:defRPr>
            </a:pPr>
            <a:r>
              <a:t>• Critical National Infrastructure: Power grids, water treatment, healthcare facilities, and telecommunications backbones.</a:t>
            </a:r>
          </a:p>
          <a:p>
            <a:pPr>
              <a:defRPr sz="950">
                <a:solidFill>
                  <a:srgbClr val="0F172A"/>
                </a:solidFill>
                <a:latin typeface="Arial"/>
              </a:defRPr>
            </a:pPr>
            <a:r>
              <a:t>• Financial Institutions &amp; FinTech: High-frequency banking networks where seconds of downtime result in catastrophic losses.</a:t>
            </a:r>
          </a:p>
          <a:p>
            <a:pPr>
              <a:defRPr sz="950">
                <a:solidFill>
                  <a:srgbClr val="0F172A"/>
                </a:solidFill>
                <a:latin typeface="Arial"/>
              </a:defRPr>
            </a:pPr>
            <a:r>
              <a:t>• Managed Security Providers (MSSPs): Security partners monitoring multiple client subnets with multi-tenant scalability.</a:t>
            </a:r>
          </a:p>
        </p:txBody>
      </p:sp>
      <p:sp>
        <p:nvSpPr>
          <p:cNvPr id="6" name="Rounded Rectangle 5"/>
          <p:cNvSpPr/>
          <p:nvPr/>
        </p:nvSpPr>
        <p:spPr>
          <a:xfrm>
            <a:off x="731520" y="3291840"/>
            <a:ext cx="3474720" cy="2926080"/>
          </a:xfrm>
          <a:prstGeom prst="roundRect">
            <a:avLst/>
          </a:prstGeom>
          <a:solidFill>
            <a:srgbClr val="ECFDF5"/>
          </a:solidFill>
          <a:ln w="12700">
            <a:solidFill>
              <a:srgbClr val="F3E8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59669"/>
                </a:solidFill>
                <a:latin typeface="Arial"/>
              </a:defRPr>
            </a:pPr>
            <a:r>
              <a:t>ECONOMIC BENEFITS</a:t>
            </a:r>
          </a:p>
          <a:p>
            <a:pPr>
              <a:defRPr sz="950">
                <a:solidFill>
                  <a:srgbClr val="0F172A"/>
                </a:solidFill>
                <a:latin typeface="Arial"/>
              </a:defRPr>
            </a:pPr>
            <a:r>
              <a:t>• Average $2.1M Saved Per Breach: Early containment prevents full-scale lateral ransomware encryption and exfiltration.</a:t>
            </a:r>
          </a:p>
          <a:p>
            <a:pPr>
              <a:defRPr sz="950">
                <a:solidFill>
                  <a:srgbClr val="0F172A"/>
                </a:solidFill>
                <a:latin typeface="Arial"/>
              </a:defRPr>
            </a:pPr>
            <a:r>
              <a:t>• 85% Reduction in Triage Time: Automated MITRE mapping and SHAP explainability eliminate tedious manual log correlation.</a:t>
            </a:r>
          </a:p>
          <a:p>
            <a:pPr>
              <a:defRPr sz="950">
                <a:solidFill>
                  <a:srgbClr val="0F172A"/>
                </a:solidFill>
                <a:latin typeface="Arial"/>
              </a:defRPr>
            </a:pPr>
            <a:r>
              <a:t>• Zero Hardware Over-Provisioning: Efficient algorithm runs on existing infrastructure without mandatory hardware refresh cycles.</a:t>
            </a:r>
          </a:p>
        </p:txBody>
      </p:sp>
      <p:sp>
        <p:nvSpPr>
          <p:cNvPr id="7" name="Rounded Rectangle 6"/>
          <p:cNvSpPr/>
          <p:nvPr/>
        </p:nvSpPr>
        <p:spPr>
          <a:xfrm>
            <a:off x="4370832" y="3291840"/>
            <a:ext cx="3474720" cy="2926080"/>
          </a:xfrm>
          <a:prstGeom prst="roundRect">
            <a:avLst/>
          </a:prstGeom>
          <a:solidFill>
            <a:srgbClr val="FFFFFF"/>
          </a:solidFill>
          <a:ln w="12700">
            <a:solidFill>
              <a:srgbClr val="F3E8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2563EB"/>
                </a:solidFill>
                <a:latin typeface="Arial"/>
              </a:defRPr>
            </a:pPr>
            <a:r>
              <a:t>SOCIAL &amp; SECURITY BENEFITS</a:t>
            </a:r>
          </a:p>
          <a:p>
            <a:pPr>
              <a:defRPr sz="950">
                <a:solidFill>
                  <a:srgbClr val="0F172A"/>
                </a:solidFill>
                <a:latin typeface="Arial"/>
              </a:defRPr>
            </a:pPr>
            <a:r>
              <a:t>• Protection of Critical Life Services: Shields hospitals and emergency dispatch centers from devastating cyber disruption.</a:t>
            </a:r>
          </a:p>
          <a:p>
            <a:pPr>
              <a:defRPr sz="950">
                <a:solidFill>
                  <a:srgbClr val="0F172A"/>
                </a:solidFill>
                <a:latin typeface="Arial"/>
              </a:defRPr>
            </a:pPr>
            <a:r>
              <a:t>• Safeguarding Citizen Data Privacy: Prevents unauthorized database exfiltration containing sensitive PII and financial records.</a:t>
            </a:r>
          </a:p>
          <a:p>
            <a:pPr>
              <a:defRPr sz="950">
                <a:solidFill>
                  <a:srgbClr val="0F172A"/>
                </a:solidFill>
                <a:latin typeface="Arial"/>
              </a:defRPr>
            </a:pPr>
            <a:r>
              <a:t>• Empowering Cybersecurity Talent: Alleviates SOC analyst burnout by cutting false alarms and providing clear visual playbooks.</a:t>
            </a:r>
          </a:p>
        </p:txBody>
      </p:sp>
      <p:sp>
        <p:nvSpPr>
          <p:cNvPr id="8" name="Rounded Rectangle 7"/>
          <p:cNvSpPr/>
          <p:nvPr/>
        </p:nvSpPr>
        <p:spPr>
          <a:xfrm>
            <a:off x="8010144" y="3291840"/>
            <a:ext cx="3474720" cy="2926080"/>
          </a:xfrm>
          <a:prstGeom prst="roundRect">
            <a:avLst/>
          </a:prstGeom>
          <a:solidFill>
            <a:srgbClr val="FEF3C7"/>
          </a:solidFill>
          <a:ln w="12700">
            <a:solidFill>
              <a:srgbClr val="F3E8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D97706"/>
                </a:solidFill>
                <a:latin typeface="Arial"/>
              </a:defRPr>
            </a:pPr>
            <a:r>
              <a:t>ENVIRONMENTAL BENEFITS</a:t>
            </a:r>
          </a:p>
          <a:p>
            <a:pPr>
              <a:defRPr sz="950">
                <a:solidFill>
                  <a:srgbClr val="0F172A"/>
                </a:solidFill>
                <a:latin typeface="Arial"/>
              </a:defRPr>
            </a:pPr>
            <a:r>
              <a:t>• Green Computing &amp; Carbon Reduction: Prevents botnets and cryptojacking malware from maxing out enterprise server CPU power 24/7.</a:t>
            </a:r>
          </a:p>
          <a:p>
            <a:pPr>
              <a:defRPr sz="950">
                <a:solidFill>
                  <a:srgbClr val="0F172A"/>
                </a:solidFill>
                <a:latin typeface="Arial"/>
              </a:defRPr>
            </a:pPr>
            <a:r>
              <a:t>• Optimized Resource Efficiency: Lightweight Python/FastAPI micro-architecture slashes server idle compute energy consumption.</a:t>
            </a:r>
          </a:p>
          <a:p>
            <a:pPr>
              <a:defRPr sz="950">
                <a:solidFill>
                  <a:srgbClr val="0F172A"/>
                </a:solidFill>
                <a:latin typeface="Arial"/>
              </a:defRPr>
            </a:pPr>
            <a:r>
              <a:t>• Extended Hardware Lifespan: Passive network inspection avoids bloatware that degrades client workstation longevity.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8F5"/>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1000" b="1">
                <a:solidFill>
                  <a:srgbClr val="BE185D"/>
                </a:solidFill>
                <a:latin typeface="Arial"/>
              </a:defRPr>
            </a:pPr>
            <a:r>
              <a:t>SPECTRUM  |  RESEARCH &amp; REFERENCES</a:t>
            </a:r>
          </a:p>
        </p:txBody>
      </p:sp>
      <p:sp>
        <p:nvSpPr>
          <p:cNvPr id="3" name="TextBox 2"/>
          <p:cNvSpPr txBox="1"/>
          <p:nvPr/>
        </p:nvSpPr>
        <p:spPr>
          <a:xfrm>
            <a:off x="731520" y="658368"/>
            <a:ext cx="9144000" cy="640080"/>
          </a:xfrm>
          <a:prstGeom prst="rect">
            <a:avLst/>
          </a:prstGeom>
          <a:noFill/>
        </p:spPr>
        <p:txBody>
          <a:bodyPr wrap="square" lIns="0" tIns="0" rIns="0" bIns="0">
            <a:spAutoFit/>
          </a:bodyPr>
          <a:lstStyle/>
          <a:p>
            <a:pPr>
              <a:defRPr sz="2200" b="1">
                <a:solidFill>
                  <a:srgbClr val="0F172A"/>
                </a:solidFill>
                <a:latin typeface="Arial"/>
              </a:defRPr>
            </a:pPr>
            <a:r>
              <a:t>Details / Links of Reference and Research Work</a:t>
            </a:r>
          </a:p>
        </p:txBody>
      </p:sp>
      <p:sp>
        <p:nvSpPr>
          <p:cNvPr id="4" name="TextBox 3"/>
          <p:cNvSpPr txBox="1"/>
          <p:nvPr/>
        </p:nvSpPr>
        <p:spPr>
          <a:xfrm>
            <a:off x="10515600" y="365760"/>
            <a:ext cx="914400" cy="320040"/>
          </a:xfrm>
          <a:prstGeom prst="rect">
            <a:avLst/>
          </a:prstGeom>
          <a:noFill/>
        </p:spPr>
        <p:txBody>
          <a:bodyPr wrap="none">
            <a:spAutoFit/>
          </a:bodyPr>
          <a:lstStyle/>
          <a:p>
            <a:pPr algn="r">
              <a:defRPr sz="1100" b="1">
                <a:solidFill>
                  <a:srgbClr val="64748B"/>
                </a:solidFill>
                <a:latin typeface="Arial"/>
              </a:defRPr>
            </a:pPr>
            <a:r>
              <a:t>08 / 08</a:t>
            </a:r>
          </a:p>
        </p:txBody>
      </p:sp>
      <p:sp>
        <p:nvSpPr>
          <p:cNvPr id="5" name="Rounded Rectangle 4"/>
          <p:cNvSpPr/>
          <p:nvPr/>
        </p:nvSpPr>
        <p:spPr>
          <a:xfrm>
            <a:off x="731520" y="1463040"/>
            <a:ext cx="6217920" cy="4754880"/>
          </a:xfrm>
          <a:prstGeom prst="roundRect">
            <a:avLst/>
          </a:prstGeom>
          <a:solidFill>
            <a:srgbClr val="FFFFFF"/>
          </a:solidFill>
          <a:ln w="12700">
            <a:solidFill>
              <a:srgbClr val="F3E8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BE185D"/>
                </a:solidFill>
                <a:latin typeface="Arial"/>
              </a:defRPr>
            </a:pPr>
            <a:r>
              <a:t>ACADEMIC &amp; INDUSTRY RESEARCH FOUNDATION</a:t>
            </a:r>
          </a:p>
          <a:p>
            <a:pPr>
              <a:defRPr sz="1050" b="1">
                <a:solidFill>
                  <a:srgbClr val="0F172A"/>
                </a:solidFill>
                <a:latin typeface="Arial"/>
              </a:defRPr>
            </a:pPr>
            <a:r>
              <a:t>• CICIDS2017 / CSE-CIC-IDS2018 Benchmark Datasets</a:t>
            </a:r>
          </a:p>
          <a:p>
            <a:pPr>
              <a:defRPr sz="950">
                <a:solidFill>
                  <a:srgbClr val="64748B"/>
                </a:solidFill>
                <a:latin typeface="Arial"/>
              </a:defRPr>
            </a:pPr>
            <a:r>
              <a:t>  Canadian Institute for Cybersecurity (UNB). Real-world background traffic and multi-vector attack profiles (DDoS, Botnet, Infiltration). https://www.unb.ca/cic/datasets/ids-2018.html</a:t>
            </a:r>
          </a:p>
          <a:p>
            <a:pPr>
              <a:defRPr sz="1050" b="1">
                <a:solidFill>
                  <a:srgbClr val="0F172A"/>
                </a:solidFill>
                <a:latin typeface="Arial"/>
              </a:defRPr>
            </a:pPr>
            <a:r>
              <a:t>• MITRE ATT&amp;CK Enterprise Matrix v14</a:t>
            </a:r>
          </a:p>
          <a:p>
            <a:pPr>
              <a:defRPr sz="950">
                <a:solidFill>
                  <a:srgbClr val="64748B"/>
                </a:solidFill>
                <a:latin typeface="Arial"/>
              </a:defRPr>
            </a:pPr>
            <a:r>
              <a:t>  Tactical framework for describing adversarial behavior, reconnaissance, initial access, and lateral movement. https://attack.mitre.org/</a:t>
            </a:r>
          </a:p>
          <a:p>
            <a:pPr>
              <a:defRPr sz="1050" b="1">
                <a:solidFill>
                  <a:srgbClr val="0F172A"/>
                </a:solidFill>
                <a:latin typeface="Arial"/>
              </a:defRPr>
            </a:pPr>
            <a:r>
              <a:t>• SHAP: A Unified Approach to Interpreting Model Predictions</a:t>
            </a:r>
          </a:p>
          <a:p>
            <a:pPr>
              <a:defRPr sz="950">
                <a:solidFill>
                  <a:srgbClr val="64748B"/>
                </a:solidFill>
                <a:latin typeface="Arial"/>
              </a:defRPr>
            </a:pPr>
            <a:r>
              <a:t>  Lundberg, S. M., &amp; Lee, S.-I. (2017). Advances in Neural Information Processing Systems (NeurIPS), 30. Demonstrates game-theoretic Shapley feature attribution. https://github.com/shap/shap</a:t>
            </a:r>
          </a:p>
          <a:p>
            <a:pPr>
              <a:defRPr sz="1050" b="1">
                <a:solidFill>
                  <a:srgbClr val="0F172A"/>
                </a:solidFill>
                <a:latin typeface="Arial"/>
              </a:defRPr>
            </a:pPr>
            <a:r>
              <a:t>• RFC 7011 / IPFIX Protocol Standards</a:t>
            </a:r>
          </a:p>
          <a:p>
            <a:pPr>
              <a:defRPr sz="950">
                <a:solidFill>
                  <a:srgbClr val="64748B"/>
                </a:solidFill>
                <a:latin typeface="Arial"/>
              </a:defRPr>
            </a:pPr>
            <a:r>
              <a:t>  IETF Specification of the IP Flow Information Export protocol for high-frequency network flow statistical telemetry.</a:t>
            </a:r>
          </a:p>
          <a:p>
            <a:pPr>
              <a:defRPr sz="1050" b="1">
                <a:solidFill>
                  <a:srgbClr val="0F172A"/>
                </a:solidFill>
                <a:latin typeface="Arial"/>
              </a:defRPr>
            </a:pPr>
            <a:r>
              <a:t>• Random Forests for Network Intrusion Detection</a:t>
            </a:r>
          </a:p>
          <a:p>
            <a:pPr>
              <a:defRPr sz="950">
                <a:solidFill>
                  <a:srgbClr val="64748B"/>
                </a:solidFill>
                <a:latin typeface="Arial"/>
              </a:defRPr>
            </a:pPr>
            <a:r>
              <a:t>  Breiman, L. (2001). Machine Learning, 45(1). Applied to high-dimensional packet signature classification.</a:t>
            </a:r>
          </a:p>
        </p:txBody>
      </p:sp>
      <p:sp>
        <p:nvSpPr>
          <p:cNvPr id="6" name="Rounded Rectangle 5"/>
          <p:cNvSpPr/>
          <p:nvPr/>
        </p:nvSpPr>
        <p:spPr>
          <a:xfrm>
            <a:off x="7132320" y="1463040"/>
            <a:ext cx="4327855" cy="4754880"/>
          </a:xfrm>
          <a:prstGeom prst="roundRect">
            <a:avLst/>
          </a:prstGeom>
          <a:solidFill>
            <a:srgbClr val="FFFFFF"/>
          </a:solidFill>
          <a:ln w="12700">
            <a:solidFill>
              <a:srgbClr val="F3E8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F172A"/>
                </a:solidFill>
                <a:latin typeface="Arial"/>
              </a:defRPr>
            </a:pPr>
            <a:r>
              <a:t>PROJECT ASSETS &amp; REPOSITORY LINKS</a:t>
            </a:r>
          </a:p>
          <a:p>
            <a:pPr>
              <a:defRPr sz="1100" b="1">
                <a:solidFill>
                  <a:srgbClr val="2563EB"/>
                </a:solidFill>
                <a:latin typeface="Arial"/>
              </a:defRPr>
            </a:pPr>
            <a:r>
              <a:t>• GitHub Repository</a:t>
            </a:r>
          </a:p>
          <a:p>
            <a:pPr>
              <a:defRPr sz="950" b="1">
                <a:solidFill>
                  <a:srgbClr val="BE185D"/>
                </a:solidFill>
                <a:latin typeface="Arial"/>
              </a:defRPr>
            </a:pPr>
            <a:r>
              <a:t>  https://github.com/rajsoni2962/Spectrum</a:t>
            </a:r>
          </a:p>
          <a:p>
            <a:pPr>
              <a:defRPr sz="900">
                <a:solidFill>
                  <a:srgbClr val="64748B"/>
                </a:solidFill>
                <a:latin typeface="Arial"/>
              </a:defRPr>
            </a:pPr>
            <a:r>
              <a:t>  Complete working codebase: FastAPI backend, ML models, React 18 frontend, and deployment scripts.</a:t>
            </a:r>
          </a:p>
          <a:p>
            <a:pPr>
              <a:defRPr sz="1100" b="1">
                <a:solidFill>
                  <a:srgbClr val="2563EB"/>
                </a:solidFill>
                <a:latin typeface="Arial"/>
              </a:defRPr>
            </a:pPr>
            <a:r>
              <a:t>• Live Interactive Demo</a:t>
            </a:r>
          </a:p>
          <a:p>
            <a:pPr>
              <a:defRPr sz="950" b="1">
                <a:solidFill>
                  <a:srgbClr val="BE185D"/>
                </a:solidFill>
                <a:latin typeface="Arial"/>
              </a:defRPr>
            </a:pPr>
            <a:r>
              <a:t>  http://localhost:5173/app/dashboard</a:t>
            </a:r>
          </a:p>
          <a:p>
            <a:pPr>
              <a:defRPr sz="900">
                <a:solidFill>
                  <a:srgbClr val="64748B"/>
                </a:solidFill>
                <a:latin typeface="Arial"/>
              </a:defRPr>
            </a:pPr>
            <a:r>
              <a:t>  Working Command Center with 36-band flux FFT, spatial radar sweep, and Attack Simulation Lab.</a:t>
            </a:r>
          </a:p>
          <a:p>
            <a:pPr>
              <a:defRPr sz="1100" b="1">
                <a:solidFill>
                  <a:srgbClr val="2563EB"/>
                </a:solidFill>
                <a:latin typeface="Arial"/>
              </a:defRPr>
            </a:pPr>
            <a:r>
              <a:t>• REST API &amp; Swagger Docs</a:t>
            </a:r>
          </a:p>
          <a:p>
            <a:pPr>
              <a:defRPr sz="950" b="1">
                <a:solidFill>
                  <a:srgbClr val="BE185D"/>
                </a:solidFill>
                <a:latin typeface="Arial"/>
              </a:defRPr>
            </a:pPr>
            <a:r>
              <a:t>  http://localhost:8000/api/docs</a:t>
            </a:r>
          </a:p>
          <a:p>
            <a:pPr>
              <a:defRPr sz="900">
                <a:solidFill>
                  <a:srgbClr val="64748B"/>
                </a:solidFill>
                <a:latin typeface="Arial"/>
              </a:defRPr>
            </a:pPr>
            <a:r>
              <a:t>  Interactive OpenAPI documentation covering 18 REST endpoints and WebSocket live feeds.</a:t>
            </a:r>
          </a:p>
          <a:p>
            <a:pPr>
              <a:defRPr sz="1100" b="1">
                <a:solidFill>
                  <a:srgbClr val="2563EB"/>
                </a:solidFill>
                <a:latin typeface="Arial"/>
              </a:defRPr>
            </a:pPr>
            <a:r>
              <a:t>• Automated Test Suite</a:t>
            </a:r>
          </a:p>
          <a:p>
            <a:pPr>
              <a:defRPr sz="950" b="1">
                <a:solidFill>
                  <a:srgbClr val="BE185D"/>
                </a:solidFill>
                <a:latin typeface="Arial"/>
              </a:defRPr>
            </a:pPr>
            <a:r>
              <a:t>  pytest backend/tests/test_backend.py</a:t>
            </a:r>
          </a:p>
          <a:p>
            <a:pPr>
              <a:defRPr sz="900">
                <a:solidFill>
                  <a:srgbClr val="64748B"/>
                </a:solidFill>
                <a:latin typeface="Arial"/>
              </a:defRPr>
            </a:pPr>
            <a:r>
              <a:t>  9/9 automated unit &amp; integration tests covering feature extraction, ML classification, and PDF generation.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